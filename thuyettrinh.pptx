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10.fntdata" ContentType="application/x-fontdata"/>
  <Override PartName="/ppt/fonts/font11.fntdata" ContentType="application/x-fontdata"/>
  <Override PartName="/ppt/fonts/font12.fntdata" ContentType="application/x-fontdata"/>
  <Override PartName="/ppt/fonts/font13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fonts/font8.fntdata" ContentType="application/x-fontdata"/>
  <Override PartName="/ppt/fonts/font9.fntdata" ContentType="application/x-fontdata"/>
  <Override PartName="/ppt/media/image6.svg" ContentType="image/svg+xml"/>
  <Override PartName="/ppt/media/image9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</p:sldIdLst>
  <p:sldSz cx="9144000" cy="5143500"/>
  <p:notesSz cx="5143500" cy="9144000"/>
  <p:embeddedFontLst>
    <p:embeddedFont>
      <p:font typeface="Lato" panose="020F0502020204030203" pitchFamily="34" charset="0"/>
      <p:regular r:id="rId17"/>
    </p:embeddedFont>
    <p:embeddedFont>
      <p:font typeface="Lato" panose="020F0502020204030203" pitchFamily="34" charset="-122"/>
      <p:regular r:id="rId18"/>
    </p:embeddedFont>
    <p:embeddedFont>
      <p:font typeface="Lato" panose="020F0502020204030203" pitchFamily="34" charset="-120"/>
      <p:regular r:id="rId19"/>
    </p:embeddedFont>
    <p:embeddedFont>
      <p:font typeface="Gelasio" pitchFamily="34" charset="0"/>
      <p:regular r:id="rId20"/>
    </p:embeddedFont>
    <p:embeddedFont>
      <p:font typeface="Gelasio" pitchFamily="34" charset="-122"/>
      <p:regular r:id="rId21"/>
    </p:embeddedFont>
    <p:embeddedFont>
      <p:font typeface="Gelasio" pitchFamily="34" charset="-120"/>
      <p:regular r:id="rId22"/>
    </p:embeddedFont>
    <p:embeddedFont>
      <p:font typeface="Lato Bold" panose="020F0802020204030203" pitchFamily="34" charset="0"/>
      <p:bold r:id="rId23"/>
    </p:embeddedFont>
    <p:embeddedFont>
      <p:font typeface="Lato Bold" panose="020F0802020204030203" pitchFamily="34" charset="-122"/>
      <p:bold r:id="rId24"/>
    </p:embeddedFont>
    <p:embeddedFont>
      <p:font typeface="Lato Bold" panose="020F0802020204030203" pitchFamily="34" charset="-120"/>
      <p:bold r:id="rId25"/>
    </p:embeddedFont>
    <p:embeddedFont>
      <p:font typeface="Calibri" panose="020F0502020204030204" charset="0"/>
      <p:regular r:id="rId26"/>
      <p:bold r:id="rId27"/>
      <p:italic r:id="rId28"/>
      <p:boldItalic r:id="rId29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9" Type="http://schemas.openxmlformats.org/officeDocument/2006/relationships/font" Target="fonts/font13.fntdata"/><Relationship Id="rId28" Type="http://schemas.openxmlformats.org/officeDocument/2006/relationships/font" Target="fonts/font12.fntdata"/><Relationship Id="rId27" Type="http://schemas.openxmlformats.org/officeDocument/2006/relationships/font" Target="fonts/font11.fntdata"/><Relationship Id="rId26" Type="http://schemas.openxmlformats.org/officeDocument/2006/relationships/font" Target="fonts/font10.fntdata"/><Relationship Id="rId25" Type="http://schemas.openxmlformats.org/officeDocument/2006/relationships/font" Target="fonts/font9.fntdata"/><Relationship Id="rId24" Type="http://schemas.openxmlformats.org/officeDocument/2006/relationships/font" Target="fonts/font8.fntdata"/><Relationship Id="rId23" Type="http://schemas.openxmlformats.org/officeDocument/2006/relationships/font" Target="fonts/font7.fntdata"/><Relationship Id="rId22" Type="http://schemas.openxmlformats.org/officeDocument/2006/relationships/font" Target="fonts/font6.fntdata"/><Relationship Id="rId21" Type="http://schemas.openxmlformats.org/officeDocument/2006/relationships/font" Target="fonts/font5.fntdata"/><Relationship Id="rId20" Type="http://schemas.openxmlformats.org/officeDocument/2006/relationships/font" Target="fonts/font4.fntdata"/><Relationship Id="rId2" Type="http://schemas.openxmlformats.org/officeDocument/2006/relationships/theme" Target="theme/theme1.xml"/><Relationship Id="rId19" Type="http://schemas.openxmlformats.org/officeDocument/2006/relationships/font" Target="fonts/font3.fntdata"/><Relationship Id="rId18" Type="http://schemas.openxmlformats.org/officeDocument/2006/relationships/font" Target="fonts/font2.fntdata"/><Relationship Id="rId17" Type="http://schemas.openxmlformats.org/officeDocument/2006/relationships/font" Target="fonts/font1.fntdata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4" Type="http://schemas.openxmlformats.org/officeDocument/2006/relationships/image" Target="../media/image2.png"/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5000"/>
            </a:srgbClr>
          </a:solidFill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4.png"/><Relationship Id="rId2" Type="http://schemas.openxmlformats.org/officeDocument/2006/relationships/image" Target="../media/image6.svg"/><Relationship Id="rId1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1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5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4.png"/><Relationship Id="rId3" Type="http://schemas.openxmlformats.org/officeDocument/2006/relationships/image" Target="../media/image10.jpeg"/><Relationship Id="rId2" Type="http://schemas.openxmlformats.org/officeDocument/2006/relationships/image" Target="../media/image9.svg"/><Relationship Id="rId1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1" Type="http://schemas.openxmlformats.org/officeDocument/2006/relationships/image" Target="../media/image11.jpe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1" Type="http://schemas.openxmlformats.org/officeDocument/2006/relationships/image" Target="../media/image12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3.jpeg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0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1" Type="http://schemas.openxmlformats.org/officeDocument/2006/relationships/image" Target="../media/image14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2459236" y="1214140"/>
            <a:ext cx="1473919" cy="266402"/>
          </a:xfrm>
          <a:prstGeom prst="roundRect">
            <a:avLst>
              <a:gd name="adj" fmla="val 17880"/>
            </a:avLst>
          </a:prstGeom>
          <a:noFill/>
          <a:effectLst>
            <a:outerShdw blurRad="101600" dist="50800" dir="16200000" algn="bl" rotWithShape="0">
              <a:srgbClr val="E5E5E0">
                <a:alpha val="100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496119" y="1537246"/>
            <a:ext cx="4722763" cy="885974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Hệ thống Quản lý Khóa học Trực tuyến</a:t>
            </a:r>
            <a:endParaRPr lang="en-US" sz="2750" dirty="0"/>
          </a:p>
        </p:txBody>
      </p:sp>
      <p:sp>
        <p:nvSpPr>
          <p:cNvPr id="8" name="Text 5"/>
          <p:cNvSpPr/>
          <p:nvPr/>
        </p:nvSpPr>
        <p:spPr>
          <a:xfrm>
            <a:off x="496119" y="2635821"/>
            <a:ext cx="4722763" cy="129354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b="1" dirty="0">
                <a:solidFill>
                  <a:srgbClr val="272525"/>
                </a:solidFill>
                <a:latin typeface="Times New Roman" panose="02020603050405020304" charset="0"/>
                <a:ea typeface="Lato Bold" panose="020F0802020204030203" pitchFamily="34" charset="-122"/>
                <a:cs typeface="Times New Roman" panose="02020603050405020304" charset="0"/>
              </a:rPr>
              <a:t>Sinh viên:</a:t>
            </a:r>
            <a:r>
              <a:rPr lang="en-US" b="1" dirty="0">
                <a:solidFill>
                  <a:srgbClr val="272525"/>
                </a:solidFill>
                <a:latin typeface="Times New Roman" panose="02020603050405020304" charset="0"/>
                <a:ea typeface="Lato" panose="020F0502020204030203" pitchFamily="34" charset="-122"/>
                <a:cs typeface="Times New Roman" panose="02020603050405020304" charset="0"/>
              </a:rPr>
              <a:t> Huỳnh Minh Chiến — 22050025  |</a:t>
            </a:r>
            <a:endParaRPr lang="en-US" b="1" dirty="0">
              <a:solidFill>
                <a:srgbClr val="272525"/>
              </a:solidFill>
              <a:latin typeface="Times New Roman" panose="02020603050405020304" charset="0"/>
              <a:ea typeface="Lato" panose="020F0502020204030203" pitchFamily="34" charset="-122"/>
              <a:cs typeface="Times New Roman" panose="02020603050405020304" charset="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b="1" dirty="0">
                <a:solidFill>
                  <a:srgbClr val="272525"/>
                </a:solidFill>
                <a:latin typeface="Times New Roman" panose="02020603050405020304" charset="0"/>
                <a:ea typeface="Lato Bold" panose="020F0802020204030203" pitchFamily="34" charset="-122"/>
                <a:cs typeface="Times New Roman" panose="02020603050405020304" charset="0"/>
              </a:rPr>
              <a:t>Giảng viên:</a:t>
            </a:r>
            <a:r>
              <a:rPr lang="en-US" b="1" dirty="0">
                <a:solidFill>
                  <a:srgbClr val="272525"/>
                </a:solidFill>
                <a:latin typeface="Times New Roman" panose="02020603050405020304" charset="0"/>
                <a:ea typeface="Lato" panose="020F0502020204030203" pitchFamily="34" charset="-122"/>
                <a:cs typeface="Times New Roman" panose="02020603050405020304" charset="0"/>
              </a:rPr>
              <a:t> Th.S Dương Anh Tuấn  </a:t>
            </a:r>
            <a:endParaRPr lang="en-US" b="1" dirty="0">
              <a:solidFill>
                <a:srgbClr val="272525"/>
              </a:solidFill>
              <a:latin typeface="Times New Roman" panose="02020603050405020304" charset="0"/>
              <a:ea typeface="Lato" panose="020F0502020204030203" pitchFamily="34" charset="-122"/>
              <a:cs typeface="Times New Roman" panose="02020603050405020304" charset="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b="1" dirty="0">
                <a:solidFill>
                  <a:srgbClr val="272525"/>
                </a:solidFill>
                <a:latin typeface="Times New Roman" panose="02020603050405020304" charset="0"/>
                <a:ea typeface="Lato Bold" panose="020F0802020204030203" pitchFamily="34" charset="-122"/>
                <a:cs typeface="Times New Roman" panose="02020603050405020304" charset="0"/>
              </a:rPr>
              <a:t>Tháng 7/2026</a:t>
            </a:r>
            <a:endParaRPr lang="en-US" b="1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537790"/>
            <a:ext cx="8151763" cy="22145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Chương 1 · Cơ sở lý thuyết</a:t>
            </a:r>
            <a:endParaRPr lang="en-US" sz="1350" dirty="0"/>
          </a:p>
        </p:txBody>
      </p:sp>
      <p:sp>
        <p:nvSpPr>
          <p:cNvPr id="3" name="Text 1"/>
          <p:cNvSpPr/>
          <p:nvPr/>
        </p:nvSpPr>
        <p:spPr>
          <a:xfrm>
            <a:off x="496119" y="815950"/>
            <a:ext cx="8151763" cy="44298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Bài toán &amp; Mục tiêu hệ thống</a:t>
            </a:r>
            <a:endParaRPr lang="en-US" sz="2750" dirty="0"/>
          </a:p>
        </p:txBody>
      </p:sp>
      <p:sp>
        <p:nvSpPr>
          <p:cNvPr id="4" name="Text 2"/>
          <p:cNvSpPr/>
          <p:nvPr/>
        </p:nvSpPr>
        <p:spPr>
          <a:xfrm>
            <a:off x="496119" y="1599084"/>
            <a:ext cx="3902943" cy="148843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spcAft>
                <a:spcPts val="1000"/>
              </a:spcAft>
              <a:buNone/>
            </a:pPr>
            <a:r>
              <a:rPr lang="en-US" sz="1100" dirty="0">
                <a:solidFill>
                  <a:srgbClr val="272525"/>
                </a:solidFill>
                <a:latin typeface="Lato" panose="020F0502020204030203" pitchFamily="34" charset="0"/>
                <a:ea typeface="Lato" panose="020F0502020204030203" pitchFamily="34" charset="-122"/>
                <a:cs typeface="Lato" panose="020F0502020204030203" pitchFamily="34" charset="-120"/>
              </a:rPr>
              <a:t>Khi thông tin khóa học và dữ liệu học viên được quản lý thủ công, học viên khó theo dõi lộ trình; nhà quản lý tốn thời gian cấp quyền, đối soát thanh toán và xác nhận ghi danh.</a:t>
            </a:r>
            <a:endParaRPr lang="en-US" sz="11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Lato" panose="020F0502020204030203" pitchFamily="34" charset="0"/>
                <a:ea typeface="Lato" panose="020F0502020204030203" pitchFamily="34" charset="-122"/>
                <a:cs typeface="Lato" panose="020F0502020204030203" pitchFamily="34" charset="-120"/>
              </a:rPr>
              <a:t>Hệ thống </a:t>
            </a:r>
            <a:r>
              <a:rPr lang="en-US" sz="1100" b="1" dirty="0">
                <a:solidFill>
                  <a:srgbClr val="272525"/>
                </a:solidFill>
                <a:latin typeface="Lato Bold" panose="020F0802020204030203" pitchFamily="34" charset="0"/>
                <a:ea typeface="Lato Bold" panose="020F0802020204030203" pitchFamily="34" charset="-122"/>
                <a:cs typeface="Lato Bold" panose="020F0802020204030203" pitchFamily="34" charset="-120"/>
              </a:rPr>
              <a:t>Course Management System</a:t>
            </a:r>
            <a:r>
              <a:rPr lang="en-US" sz="1100" dirty="0">
                <a:solidFill>
                  <a:srgbClr val="272525"/>
                </a:solidFill>
                <a:latin typeface="Lato" panose="020F0502020204030203" pitchFamily="34" charset="0"/>
                <a:ea typeface="Lato" panose="020F0502020204030203" pitchFamily="34" charset="-122"/>
                <a:cs typeface="Lato" panose="020F0502020204030203" pitchFamily="34" charset="-120"/>
              </a:rPr>
              <a:t> số hóa luồng nghiệp vụ cốt lõi của nền tảng e-learning: quản lý danh mục khóa học, bài học, giao dịch ví nội bộ, ghi danh và tài khoản người dùng.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647605" y="1471538"/>
            <a:ext cx="4107135" cy="3134097"/>
          </a:xfrm>
          <a:prstGeom prst="roundRect">
            <a:avLst>
              <a:gd name="adj" fmla="val 3257"/>
            </a:avLst>
          </a:prstGeom>
          <a:solidFill>
            <a:srgbClr val="E5E5E0">
              <a:alpha val="95000"/>
            </a:srgbClr>
          </a:solidFill>
        </p:spPr>
      </p:sp>
      <p:sp>
        <p:nvSpPr>
          <p:cNvPr id="6" name="Shape 4"/>
          <p:cNvSpPr/>
          <p:nvPr/>
        </p:nvSpPr>
        <p:spPr>
          <a:xfrm>
            <a:off x="4789363" y="1631007"/>
            <a:ext cx="1840929" cy="1336700"/>
          </a:xfrm>
          <a:prstGeom prst="roundRect">
            <a:avLst>
              <a:gd name="adj" fmla="val 4454"/>
            </a:avLst>
          </a:prstGeom>
          <a:solidFill>
            <a:srgbClr val="E8E8E3"/>
          </a:solidFill>
          <a:ln w="4763">
            <a:solidFill>
              <a:srgbClr val="CECEC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935885" y="1777529"/>
            <a:ext cx="1547887" cy="22145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Quản lý khóa học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4935885" y="2140744"/>
            <a:ext cx="1547887" cy="68044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Lato" panose="020F0502020204030203" pitchFamily="34" charset="0"/>
                <a:ea typeface="Lato" panose="020F0502020204030203" pitchFamily="34" charset="-122"/>
                <a:cs typeface="Lato" panose="020F0502020204030203" pitchFamily="34" charset="-120"/>
              </a:rPr>
              <a:t>Tìm kiếm, xem chi tiết, ghi danh bằng số dư ví nội bộ.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772052" y="1631007"/>
            <a:ext cx="1840929" cy="1336700"/>
          </a:xfrm>
          <a:prstGeom prst="roundRect">
            <a:avLst>
              <a:gd name="adj" fmla="val 4454"/>
            </a:avLst>
          </a:prstGeom>
          <a:solidFill>
            <a:srgbClr val="E8E8E3"/>
          </a:solidFill>
          <a:ln w="4763">
            <a:solidFill>
              <a:srgbClr val="CECEC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918573" y="1777529"/>
            <a:ext cx="1547887" cy="22145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Số hóa học tập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6918573" y="2140744"/>
            <a:ext cx="1547887" cy="68044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Lato" panose="020F0502020204030203" pitchFamily="34" charset="0"/>
                <a:ea typeface="Lato" panose="020F0502020204030203" pitchFamily="34" charset="-122"/>
                <a:cs typeface="Lato" panose="020F0502020204030203" pitchFamily="34" charset="-120"/>
              </a:rPr>
              <a:t>Tham gia bài học, ghi nhận tiến độ, đánh giá khóa học.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789363" y="3109466"/>
            <a:ext cx="1840929" cy="1336700"/>
          </a:xfrm>
          <a:prstGeom prst="roundRect">
            <a:avLst>
              <a:gd name="adj" fmla="val 4454"/>
            </a:avLst>
          </a:prstGeom>
          <a:solidFill>
            <a:srgbClr val="E8E8E3"/>
          </a:solidFill>
          <a:ln w="4763">
            <a:solidFill>
              <a:srgbClr val="CECEC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35885" y="3255987"/>
            <a:ext cx="1547887" cy="22145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Bảo mật truy cập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4935885" y="3619202"/>
            <a:ext cx="1547887" cy="68044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Lato" panose="020F0502020204030203" pitchFamily="34" charset="0"/>
                <a:ea typeface="Lato" panose="020F0502020204030203" pitchFamily="34" charset="-122"/>
                <a:cs typeface="Lato" panose="020F0502020204030203" pitchFamily="34" charset="-120"/>
              </a:rPr>
              <a:t>JWT xác thực, phân quyền RBAC theo vai trò User/Admin.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772052" y="3109466"/>
            <a:ext cx="1840929" cy="1336700"/>
          </a:xfrm>
          <a:prstGeom prst="roundRect">
            <a:avLst>
              <a:gd name="adj" fmla="val 4454"/>
            </a:avLst>
          </a:prstGeom>
          <a:solidFill>
            <a:srgbClr val="E8E8E3"/>
          </a:solidFill>
          <a:ln w="4763">
            <a:solidFill>
              <a:srgbClr val="CECEC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918573" y="3255987"/>
            <a:ext cx="1547887" cy="22145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Quản trị dữ liệu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6918573" y="3619202"/>
            <a:ext cx="1547887" cy="68044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Lato" panose="020F0502020204030203" pitchFamily="34" charset="0"/>
                <a:ea typeface="Lato" panose="020F0502020204030203" pitchFamily="34" charset="-122"/>
                <a:cs typeface="Lato" panose="020F0502020204030203" pitchFamily="34" charset="-120"/>
              </a:rPr>
              <a:t>Admin toàn quyền quản lý người dùng, khóa học, giao dịch.</a:t>
            </a:r>
            <a:endParaRPr lang="en-US" sz="1100" dirty="0"/>
          </a:p>
        </p:txBody>
      </p:sp>
      <p:pic>
        <p:nvPicPr>
          <p:cNvPr id="18" name="Picture 1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96100" y="4730115"/>
            <a:ext cx="2247900" cy="41338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96119" y="642565"/>
            <a:ext cx="8151763" cy="35294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00" b="1" dirty="0">
                <a:solidFill>
                  <a:srgbClr val="312F2B"/>
                </a:solidFill>
                <a:latin typeface="Times New Roman" panose="02020603050405020304" charset="0"/>
                <a:ea typeface="Gelasio" pitchFamily="34" charset="-122"/>
                <a:cs typeface="Times New Roman" panose="02020603050405020304" charset="0"/>
              </a:rPr>
              <a:t>Yêu cầu chức năng &amp; Phi chức năng</a:t>
            </a:r>
            <a:endParaRPr lang="en-US" sz="2000" b="1" dirty="0">
              <a:solidFill>
                <a:srgbClr val="312F2B"/>
              </a:solidFill>
              <a:latin typeface="Times New Roman" panose="02020603050405020304" charset="0"/>
              <a:ea typeface="Gelasio" pitchFamily="34" charset="-122"/>
              <a:cs typeface="Times New Roman" panose="02020603050405020304" charset="0"/>
            </a:endParaRPr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6119" y="1130498"/>
            <a:ext cx="4030861" cy="113429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443758" y="1215182"/>
            <a:ext cx="135508" cy="169441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1</a:t>
            </a:r>
            <a:endParaRPr lang="en-US" sz="1200" dirty="0">
              <a:solidFill>
                <a:srgbClr val="000000"/>
              </a:solidFill>
              <a:latin typeface="Gelasio" pitchFamily="34" charset="0"/>
              <a:ea typeface="Gelasio" pitchFamily="34" charset="-122"/>
              <a:cs typeface="Gelasio" pitchFamily="34" charset="-120"/>
            </a:endParaRPr>
          </a:p>
        </p:txBody>
      </p:sp>
      <p:sp>
        <p:nvSpPr>
          <p:cNvPr id="6" name="Text 3"/>
          <p:cNvSpPr/>
          <p:nvPr/>
        </p:nvSpPr>
        <p:spPr>
          <a:xfrm>
            <a:off x="623367" y="1582341"/>
            <a:ext cx="3776365" cy="17651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Xác thực &amp; Hồ sơ</a:t>
            </a:r>
            <a:endParaRPr lang="en-US" sz="1200" dirty="0">
              <a:solidFill>
                <a:srgbClr val="272525"/>
              </a:solidFill>
              <a:latin typeface="Gelasio" pitchFamily="34" charset="0"/>
              <a:ea typeface="Gelasio" pitchFamily="34" charset="-122"/>
              <a:cs typeface="Gelasio" pitchFamily="34" charset="-120"/>
            </a:endParaRPr>
          </a:p>
        </p:txBody>
      </p:sp>
      <p:sp>
        <p:nvSpPr>
          <p:cNvPr id="7" name="Text 4"/>
          <p:cNvSpPr/>
          <p:nvPr/>
        </p:nvSpPr>
        <p:spPr>
          <a:xfrm>
            <a:off x="623367" y="1812801"/>
            <a:ext cx="3776365" cy="32474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00" dirty="0">
                <a:solidFill>
                  <a:srgbClr val="272525"/>
                </a:solidFill>
                <a:latin typeface="Lato" panose="020F0502020204030203" pitchFamily="34" charset="0"/>
                <a:ea typeface="Lato" panose="020F0502020204030203" pitchFamily="34" charset="-122"/>
                <a:cs typeface="Lato" panose="020F0502020204030203" pitchFamily="34" charset="-120"/>
              </a:rPr>
              <a:t>Đăng ký, đăng nhập, điều hướng theo vai trò. Quản lý thông tin cá nhân và số dư ví.</a:t>
            </a:r>
            <a:endParaRPr lang="en-US" sz="1200" dirty="0">
              <a:solidFill>
                <a:srgbClr val="272525"/>
              </a:solidFill>
              <a:latin typeface="Lato" panose="020F0502020204030203" pitchFamily="34" charset="0"/>
              <a:ea typeface="Lato" panose="020F0502020204030203" pitchFamily="34" charset="-122"/>
              <a:cs typeface="Lato" panose="020F0502020204030203" pitchFamily="34" charset="-120"/>
            </a:endParaRPr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616946" y="1130498"/>
            <a:ext cx="4030935" cy="113429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564585" y="1215182"/>
            <a:ext cx="135508" cy="169441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2</a:t>
            </a:r>
            <a:endParaRPr lang="en-US" sz="1200" dirty="0">
              <a:solidFill>
                <a:srgbClr val="000000"/>
              </a:solidFill>
              <a:latin typeface="Gelasio" pitchFamily="34" charset="0"/>
              <a:ea typeface="Gelasio" pitchFamily="34" charset="-122"/>
              <a:cs typeface="Gelasio" pitchFamily="34" charset="-120"/>
            </a:endParaRPr>
          </a:p>
        </p:txBody>
      </p:sp>
      <p:sp>
        <p:nvSpPr>
          <p:cNvPr id="10" name="Text 6"/>
          <p:cNvSpPr/>
          <p:nvPr/>
        </p:nvSpPr>
        <p:spPr>
          <a:xfrm>
            <a:off x="4744194" y="1582341"/>
            <a:ext cx="3776439" cy="17651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Khóa học &amp; Bài học</a:t>
            </a:r>
            <a:endParaRPr lang="en-US" sz="1200" dirty="0">
              <a:solidFill>
                <a:srgbClr val="272525"/>
              </a:solidFill>
              <a:latin typeface="Gelasio" pitchFamily="34" charset="0"/>
              <a:ea typeface="Gelasio" pitchFamily="34" charset="-122"/>
              <a:cs typeface="Gelasio" pitchFamily="34" charset="-120"/>
            </a:endParaRPr>
          </a:p>
        </p:txBody>
      </p:sp>
      <p:sp>
        <p:nvSpPr>
          <p:cNvPr id="11" name="Text 7"/>
          <p:cNvSpPr/>
          <p:nvPr/>
        </p:nvSpPr>
        <p:spPr>
          <a:xfrm>
            <a:off x="4744194" y="1812801"/>
            <a:ext cx="3776439" cy="32474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00" dirty="0">
                <a:solidFill>
                  <a:srgbClr val="272525"/>
                </a:solidFill>
                <a:latin typeface="Lato" panose="020F0502020204030203" pitchFamily="34" charset="0"/>
                <a:ea typeface="Lato" panose="020F0502020204030203" pitchFamily="34" charset="-122"/>
                <a:cs typeface="Lato" panose="020F0502020204030203" pitchFamily="34" charset="-120"/>
              </a:rPr>
              <a:t>Admin CRUD khóa học và bài học. Học viên xem danh sách, tìm kiếm, truy cập nội dung.</a:t>
            </a:r>
            <a:endParaRPr lang="en-US" sz="1200" dirty="0">
              <a:solidFill>
                <a:srgbClr val="272525"/>
              </a:solidFill>
              <a:latin typeface="Lato" panose="020F0502020204030203" pitchFamily="34" charset="0"/>
              <a:ea typeface="Lato" panose="020F0502020204030203" pitchFamily="34" charset="-122"/>
              <a:cs typeface="Lato" panose="020F0502020204030203" pitchFamily="34" charset="-120"/>
            </a:endParaRPr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6119" y="2354759"/>
            <a:ext cx="4030861" cy="1134294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2443758" y="2439442"/>
            <a:ext cx="135508" cy="169441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3</a:t>
            </a:r>
            <a:endParaRPr lang="en-US" sz="1200" dirty="0">
              <a:solidFill>
                <a:srgbClr val="000000"/>
              </a:solidFill>
              <a:latin typeface="Gelasio" pitchFamily="34" charset="0"/>
              <a:ea typeface="Gelasio" pitchFamily="34" charset="-122"/>
              <a:cs typeface="Gelasio" pitchFamily="34" charset="-120"/>
            </a:endParaRPr>
          </a:p>
        </p:txBody>
      </p:sp>
      <p:sp>
        <p:nvSpPr>
          <p:cNvPr id="14" name="Text 9"/>
          <p:cNvSpPr/>
          <p:nvPr/>
        </p:nvSpPr>
        <p:spPr>
          <a:xfrm>
            <a:off x="623367" y="2806601"/>
            <a:ext cx="3776365" cy="17651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Ghi danh &amp; Giao dịch</a:t>
            </a:r>
            <a:endParaRPr lang="en-US" sz="1200" dirty="0">
              <a:solidFill>
                <a:srgbClr val="272525"/>
              </a:solidFill>
              <a:latin typeface="Gelasio" pitchFamily="34" charset="0"/>
              <a:ea typeface="Gelasio" pitchFamily="34" charset="-122"/>
              <a:cs typeface="Gelasio" pitchFamily="34" charset="-120"/>
            </a:endParaRPr>
          </a:p>
        </p:txBody>
      </p:sp>
      <p:sp>
        <p:nvSpPr>
          <p:cNvPr id="15" name="Text 10"/>
          <p:cNvSpPr/>
          <p:nvPr/>
        </p:nvSpPr>
        <p:spPr>
          <a:xfrm>
            <a:off x="623367" y="3037061"/>
            <a:ext cx="3776365" cy="32474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00" dirty="0">
                <a:solidFill>
                  <a:srgbClr val="272525"/>
                </a:solidFill>
                <a:latin typeface="Lato" panose="020F0502020204030203" pitchFamily="34" charset="0"/>
                <a:ea typeface="Lato" panose="020F0502020204030203" pitchFamily="34" charset="-122"/>
                <a:cs typeface="Lato" panose="020F0502020204030203" pitchFamily="34" charset="-120"/>
              </a:rPr>
              <a:t>Ghi danh bằng số dư ví; tự động trừ tiền, tạo Transaction và xác nhận Enrollment.</a:t>
            </a:r>
            <a:endParaRPr lang="en-US" sz="1200" dirty="0">
              <a:solidFill>
                <a:srgbClr val="272525"/>
              </a:solidFill>
              <a:latin typeface="Lato" panose="020F0502020204030203" pitchFamily="34" charset="0"/>
              <a:ea typeface="Lato" panose="020F0502020204030203" pitchFamily="34" charset="-122"/>
              <a:cs typeface="Lato" panose="020F0502020204030203" pitchFamily="34" charset="-120"/>
            </a:endParaRPr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616946" y="2354759"/>
            <a:ext cx="4030935" cy="1134294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6564585" y="2439442"/>
            <a:ext cx="135508" cy="169441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4</a:t>
            </a:r>
            <a:endParaRPr lang="en-US" sz="1200" dirty="0">
              <a:solidFill>
                <a:srgbClr val="000000"/>
              </a:solidFill>
              <a:latin typeface="Gelasio" pitchFamily="34" charset="0"/>
              <a:ea typeface="Gelasio" pitchFamily="34" charset="-122"/>
              <a:cs typeface="Gelasio" pitchFamily="34" charset="-120"/>
            </a:endParaRPr>
          </a:p>
        </p:txBody>
      </p:sp>
      <p:sp>
        <p:nvSpPr>
          <p:cNvPr id="18" name="Text 12"/>
          <p:cNvSpPr/>
          <p:nvPr/>
        </p:nvSpPr>
        <p:spPr>
          <a:xfrm>
            <a:off x="4744194" y="2806601"/>
            <a:ext cx="3776439" cy="17651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Đánh giá &amp; Quản trị</a:t>
            </a:r>
            <a:endParaRPr lang="en-US" sz="1200" dirty="0">
              <a:solidFill>
                <a:srgbClr val="272525"/>
              </a:solidFill>
              <a:latin typeface="Gelasio" pitchFamily="34" charset="0"/>
              <a:ea typeface="Gelasio" pitchFamily="34" charset="-122"/>
              <a:cs typeface="Gelasio" pitchFamily="34" charset="-120"/>
            </a:endParaRPr>
          </a:p>
        </p:txBody>
      </p:sp>
      <p:sp>
        <p:nvSpPr>
          <p:cNvPr id="19" name="Text 13"/>
          <p:cNvSpPr/>
          <p:nvPr/>
        </p:nvSpPr>
        <p:spPr>
          <a:xfrm>
            <a:off x="4744194" y="3037061"/>
            <a:ext cx="3776439" cy="32474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00" dirty="0">
                <a:solidFill>
                  <a:srgbClr val="272525"/>
                </a:solidFill>
                <a:latin typeface="Lato" panose="020F0502020204030203" pitchFamily="34" charset="0"/>
                <a:ea typeface="Lato" panose="020F0502020204030203" pitchFamily="34" charset="-122"/>
                <a:cs typeface="Lato" panose="020F0502020204030203" pitchFamily="34" charset="-120"/>
              </a:rPr>
              <a:t>Học viên review khóa học. Admin quản trị toàn bộ dữ liệu và xem Dashboard tổng quan.</a:t>
            </a:r>
            <a:endParaRPr lang="en-US" sz="1200" dirty="0">
              <a:solidFill>
                <a:srgbClr val="272525"/>
              </a:solidFill>
              <a:latin typeface="Lato" panose="020F0502020204030203" pitchFamily="34" charset="0"/>
              <a:ea typeface="Lato" panose="020F0502020204030203" pitchFamily="34" charset="-122"/>
              <a:cs typeface="Lato" panose="020F0502020204030203" pitchFamily="34" charset="-120"/>
            </a:endParaRPr>
          </a:p>
        </p:txBody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6119" y="3579019"/>
            <a:ext cx="4030861" cy="1134294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2443758" y="3663702"/>
            <a:ext cx="135508" cy="169441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5</a:t>
            </a:r>
            <a:endParaRPr lang="en-US" sz="1200" dirty="0">
              <a:solidFill>
                <a:srgbClr val="000000"/>
              </a:solidFill>
              <a:latin typeface="Gelasio" pitchFamily="34" charset="0"/>
              <a:ea typeface="Gelasio" pitchFamily="34" charset="-122"/>
              <a:cs typeface="Gelasio" pitchFamily="34" charset="-120"/>
            </a:endParaRPr>
          </a:p>
        </p:txBody>
      </p:sp>
      <p:sp>
        <p:nvSpPr>
          <p:cNvPr id="22" name="Text 15"/>
          <p:cNvSpPr/>
          <p:nvPr/>
        </p:nvSpPr>
        <p:spPr>
          <a:xfrm>
            <a:off x="623367" y="4030861"/>
            <a:ext cx="3776365" cy="17651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Bảo mật &amp; Hiệu năng</a:t>
            </a:r>
            <a:endParaRPr lang="en-US" sz="1200" dirty="0">
              <a:solidFill>
                <a:srgbClr val="272525"/>
              </a:solidFill>
              <a:latin typeface="Gelasio" pitchFamily="34" charset="0"/>
              <a:ea typeface="Gelasio" pitchFamily="34" charset="-122"/>
              <a:cs typeface="Gelasio" pitchFamily="34" charset="-120"/>
            </a:endParaRPr>
          </a:p>
        </p:txBody>
      </p:sp>
      <p:sp>
        <p:nvSpPr>
          <p:cNvPr id="23" name="Text 16"/>
          <p:cNvSpPr/>
          <p:nvPr/>
        </p:nvSpPr>
        <p:spPr>
          <a:xfrm>
            <a:off x="623367" y="4261321"/>
            <a:ext cx="3776365" cy="16237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00" dirty="0">
                <a:solidFill>
                  <a:srgbClr val="272525"/>
                </a:solidFill>
                <a:latin typeface="Lato" panose="020F0502020204030203" pitchFamily="34" charset="0"/>
                <a:ea typeface="Lato" panose="020F0502020204030203" pitchFamily="34" charset="-122"/>
                <a:cs typeface="Lato" panose="020F0502020204030203" pitchFamily="34" charset="-120"/>
              </a:rPr>
              <a:t>Bcrypt hash mật khẩu, JWT xác thực, CORS, phân trang, kiến trúc tách tầng.</a:t>
            </a:r>
            <a:endParaRPr lang="en-US" sz="1200" dirty="0">
              <a:solidFill>
                <a:srgbClr val="272525"/>
              </a:solidFill>
              <a:latin typeface="Lato" panose="020F0502020204030203" pitchFamily="34" charset="0"/>
              <a:ea typeface="Lato" panose="020F0502020204030203" pitchFamily="34" charset="-122"/>
              <a:cs typeface="Lato" panose="020F0502020204030203" pitchFamily="34" charset="-120"/>
            </a:endParaRPr>
          </a:p>
        </p:txBody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616946" y="3579019"/>
            <a:ext cx="4030935" cy="1134294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6564585" y="3663702"/>
            <a:ext cx="135508" cy="169441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6</a:t>
            </a:r>
            <a:endParaRPr lang="en-US" sz="1200" dirty="0">
              <a:solidFill>
                <a:srgbClr val="000000"/>
              </a:solidFill>
              <a:latin typeface="Gelasio" pitchFamily="34" charset="0"/>
              <a:ea typeface="Gelasio" pitchFamily="34" charset="-122"/>
              <a:cs typeface="Gelasio" pitchFamily="34" charset="-120"/>
            </a:endParaRPr>
          </a:p>
        </p:txBody>
      </p:sp>
      <p:sp>
        <p:nvSpPr>
          <p:cNvPr id="26" name="Text 18"/>
          <p:cNvSpPr/>
          <p:nvPr/>
        </p:nvSpPr>
        <p:spPr>
          <a:xfrm>
            <a:off x="4744194" y="4030861"/>
            <a:ext cx="3776439" cy="17651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Khả dụng &amp; Mở rộng</a:t>
            </a:r>
            <a:endParaRPr lang="en-US" sz="1200" dirty="0">
              <a:solidFill>
                <a:srgbClr val="272525"/>
              </a:solidFill>
              <a:latin typeface="Gelasio" pitchFamily="34" charset="0"/>
              <a:ea typeface="Gelasio" pitchFamily="34" charset="-122"/>
              <a:cs typeface="Gelasio" pitchFamily="34" charset="-120"/>
            </a:endParaRPr>
          </a:p>
        </p:txBody>
      </p:sp>
      <p:sp>
        <p:nvSpPr>
          <p:cNvPr id="27" name="Text 19"/>
          <p:cNvSpPr/>
          <p:nvPr/>
        </p:nvSpPr>
        <p:spPr>
          <a:xfrm>
            <a:off x="4744194" y="4261321"/>
            <a:ext cx="3776439" cy="32474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00" dirty="0">
                <a:solidFill>
                  <a:srgbClr val="272525"/>
                </a:solidFill>
                <a:latin typeface="Lato" panose="020F0502020204030203" pitchFamily="34" charset="0"/>
                <a:ea typeface="Lato" panose="020F0502020204030203" pitchFamily="34" charset="-122"/>
                <a:cs typeface="Lato" panose="020F0502020204030203" pitchFamily="34" charset="-120"/>
              </a:rPr>
              <a:t>Triển khai Cloud với HTTPS. Cấu trúc MVC dễ bổ sung thanh toán thực tế và thống kê.</a:t>
            </a:r>
            <a:endParaRPr lang="en-US" sz="1200" dirty="0">
              <a:solidFill>
                <a:srgbClr val="272525"/>
              </a:solidFill>
              <a:latin typeface="Lato" panose="020F0502020204030203" pitchFamily="34" charset="0"/>
              <a:ea typeface="Lato" panose="020F0502020204030203" pitchFamily="34" charset="-122"/>
              <a:cs typeface="Lato" panose="020F0502020204030203" pitchFamily="34" charset="-120"/>
            </a:endParaRPr>
          </a:p>
        </p:txBody>
      </p:sp>
      <p:pic>
        <p:nvPicPr>
          <p:cNvPr id="28" name="Picture 2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96100" y="4749800"/>
            <a:ext cx="2247900" cy="38544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365944" y="181808"/>
            <a:ext cx="8151763" cy="40838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55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Quy trình nghiệp vụ ghi danh</a:t>
            </a:r>
            <a:endParaRPr lang="en-US" sz="2550" dirty="0"/>
          </a:p>
        </p:txBody>
      </p:sp>
      <p:sp>
        <p:nvSpPr>
          <p:cNvPr id="4" name="Text 2"/>
          <p:cNvSpPr/>
          <p:nvPr/>
        </p:nvSpPr>
        <p:spPr>
          <a:xfrm>
            <a:off x="495935" y="727075"/>
            <a:ext cx="8151495" cy="91821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Times New Roman" panose="02020603050405020304" charset="0"/>
                <a:ea typeface="Lato" panose="020F0502020204030203" pitchFamily="34" charset="-122"/>
                <a:cs typeface="Times New Roman" panose="02020603050405020304" charset="0"/>
              </a:rPr>
              <a:t>Luồng cốt lõi: Admin thiết lập khóa học và bài học → Học viên đăng ký, đăng nhập, nạp số dư → Tìm kiếm và xem chi tiết → Ghi danh → Hệ thống kiểm tra số dư, trừ tiền, tạo Enrollment → Cấp quyền truy cập bài học → Đánh giá khóa học.</a:t>
            </a:r>
            <a:endParaRPr lang="en-US" sz="1600" dirty="0">
              <a:solidFill>
                <a:srgbClr val="272525"/>
              </a:solidFill>
              <a:latin typeface="Times New Roman" panose="02020603050405020304" charset="0"/>
              <a:ea typeface="Lato" panose="020F0502020204030203" pitchFamily="34" charset="-122"/>
              <a:cs typeface="Times New Roman" panose="02020603050405020304" charset="0"/>
            </a:endParaRPr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6641" y="1780505"/>
            <a:ext cx="7890644" cy="296093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002209" y="3908013"/>
            <a:ext cx="1190147" cy="45853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Truy cập &amp; học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5502299" y="3908013"/>
            <a:ext cx="1190146" cy="45853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Kiểm và trừ tiền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4010540" y="4022646"/>
            <a:ext cx="1190146" cy="22926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Tìm khóa học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2518781" y="3908013"/>
            <a:ext cx="1190146" cy="45853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Học viên đăng ký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994415" y="3908013"/>
            <a:ext cx="1190146" cy="45853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Admin tạo khóa</a:t>
            </a:r>
            <a:endParaRPr lang="en-US" sz="1400" dirty="0"/>
          </a:p>
        </p:txBody>
      </p:sp>
      <p:pic>
        <p:nvPicPr>
          <p:cNvPr id="18" name="Picture 1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96100" y="4730115"/>
            <a:ext cx="2247900" cy="41338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95935" y="514985"/>
            <a:ext cx="8151495" cy="63881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00" b="1" dirty="0">
                <a:solidFill>
                  <a:srgbClr val="312F2B"/>
                </a:solidFill>
                <a:latin typeface="Times New Roman" panose="02020603050405020304" charset="0"/>
                <a:ea typeface="Gelasio" pitchFamily="34" charset="-122"/>
                <a:cs typeface="Times New Roman" panose="02020603050405020304" charset="0"/>
              </a:rPr>
              <a:t>Quy tắc nghiệp vụ cốt lõi</a:t>
            </a:r>
            <a:endParaRPr lang="en-US" sz="2000" b="1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86594" y="2396654"/>
            <a:ext cx="1982093" cy="25025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86410" y="1268095"/>
            <a:ext cx="3053715" cy="35750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dirty="0">
                <a:solidFill>
                  <a:srgbClr val="272525"/>
                </a:solidFill>
                <a:latin typeface="Times New Roman" panose="02020603050405020304" charset="0"/>
                <a:ea typeface="Gelasio" pitchFamily="34" charset="-122"/>
                <a:cs typeface="Times New Roman" panose="02020603050405020304" charset="0"/>
              </a:rPr>
              <a:t>BR-01 · Điều kiện ghi danh</a:t>
            </a:r>
            <a:endParaRPr lang="en-US" dirty="0">
              <a:solidFill>
                <a:srgbClr val="272525"/>
              </a:solidFill>
              <a:latin typeface="Times New Roman" panose="02020603050405020304" charset="0"/>
              <a:ea typeface="Gelasio" pitchFamily="34" charset="-122"/>
              <a:cs typeface="Times New Roman" panose="02020603050405020304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495841" y="1601733"/>
            <a:ext cx="1882676" cy="8505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dirty="0">
                <a:solidFill>
                  <a:srgbClr val="272525"/>
                </a:solidFill>
                <a:latin typeface="Times New Roman" panose="02020603050405020304" charset="0"/>
                <a:ea typeface="Lato" panose="020F0502020204030203" pitchFamily="34" charset="-122"/>
                <a:cs typeface="Times New Roman" panose="02020603050405020304" charset="0"/>
              </a:rPr>
              <a:t>Số dư ví phải lớn hơn hoặc bằng giá khóa học.</a:t>
            </a:r>
            <a:endParaRPr lang="en-US" dirty="0">
              <a:solidFill>
                <a:srgbClr val="272525"/>
              </a:solidFill>
              <a:latin typeface="Times New Roman" panose="02020603050405020304" charset="0"/>
              <a:ea typeface="Lato" panose="020F0502020204030203" pitchFamily="34" charset="-122"/>
              <a:cs typeface="Times New Roman" panose="02020603050405020304" charset="0"/>
            </a:endParaRPr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503438" y="2396654"/>
            <a:ext cx="1982093" cy="25025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95935" y="1972945"/>
            <a:ext cx="2481580" cy="26479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dirty="0">
                <a:solidFill>
                  <a:srgbClr val="272525"/>
                </a:solidFill>
                <a:latin typeface="Times New Roman" panose="02020603050405020304" charset="0"/>
                <a:ea typeface="Gelasio" pitchFamily="34" charset="-122"/>
                <a:cs typeface="Times New Roman" panose="02020603050405020304" charset="0"/>
              </a:rPr>
              <a:t>BR-02 · Ràng buộc trùng lặp</a:t>
            </a:r>
            <a:endParaRPr lang="en-US" dirty="0">
              <a:solidFill>
                <a:srgbClr val="272525"/>
              </a:solidFill>
              <a:latin typeface="Times New Roman" panose="02020603050405020304" charset="0"/>
              <a:ea typeface="Gelasio" pitchFamily="34" charset="-122"/>
              <a:cs typeface="Times New Roman" panose="02020603050405020304" charset="0"/>
            </a:endParaRPr>
          </a:p>
        </p:txBody>
      </p:sp>
      <p:sp>
        <p:nvSpPr>
          <p:cNvPr id="9" name="Text 5"/>
          <p:cNvSpPr/>
          <p:nvPr/>
        </p:nvSpPr>
        <p:spPr>
          <a:xfrm>
            <a:off x="486410" y="2311400"/>
            <a:ext cx="4610735" cy="46101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dirty="0">
                <a:solidFill>
                  <a:srgbClr val="272525"/>
                </a:solidFill>
                <a:latin typeface="Times New Roman" panose="02020603050405020304" charset="0"/>
                <a:ea typeface="Lato" panose="020F0502020204030203" pitchFamily="34" charset="-122"/>
                <a:cs typeface="Times New Roman" panose="02020603050405020304" charset="0"/>
              </a:rPr>
              <a:t>Mỗi học viên chỉ ghi danh một khóa học một lần.</a:t>
            </a:r>
            <a:endParaRPr lang="en-US" dirty="0">
              <a:solidFill>
                <a:srgbClr val="272525"/>
              </a:solidFill>
              <a:latin typeface="Times New Roman" panose="02020603050405020304" charset="0"/>
              <a:ea typeface="Lato" panose="020F0502020204030203" pitchFamily="34" charset="-122"/>
              <a:cs typeface="Times New Roman" panose="02020603050405020304" charset="0"/>
            </a:endParaRPr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86594" y="2698700"/>
            <a:ext cx="1982093" cy="250254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495935" y="2858770"/>
            <a:ext cx="2592070" cy="34988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dirty="0">
                <a:solidFill>
                  <a:srgbClr val="272525"/>
                </a:solidFill>
                <a:latin typeface="Times New Roman" panose="02020603050405020304" charset="0"/>
                <a:ea typeface="Gelasio" pitchFamily="34" charset="-122"/>
                <a:cs typeface="Times New Roman" panose="02020603050405020304" charset="0"/>
              </a:rPr>
              <a:t>BR-03 · Truy cập nội dung</a:t>
            </a:r>
            <a:endParaRPr lang="en-US" dirty="0">
              <a:solidFill>
                <a:srgbClr val="272525"/>
              </a:solidFill>
              <a:latin typeface="Times New Roman" panose="02020603050405020304" charset="0"/>
              <a:ea typeface="Gelasio" pitchFamily="34" charset="-122"/>
              <a:cs typeface="Times New Roman" panose="02020603050405020304" charset="0"/>
            </a:endParaRPr>
          </a:p>
        </p:txBody>
      </p:sp>
      <p:sp>
        <p:nvSpPr>
          <p:cNvPr id="12" name="Text 7"/>
          <p:cNvSpPr/>
          <p:nvPr/>
        </p:nvSpPr>
        <p:spPr>
          <a:xfrm>
            <a:off x="530860" y="3209290"/>
            <a:ext cx="4977130" cy="22987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dirty="0">
                <a:solidFill>
                  <a:srgbClr val="272525"/>
                </a:solidFill>
                <a:latin typeface="Times New Roman" panose="02020603050405020304" charset="0"/>
                <a:ea typeface="Lato" panose="020F0502020204030203" pitchFamily="34" charset="-122"/>
                <a:cs typeface="Times New Roman" panose="02020603050405020304" charset="0"/>
              </a:rPr>
              <a:t>Chỉ tài khoản đã ghi danh mới xem được bài học.</a:t>
            </a:r>
            <a:endParaRPr lang="en-US" dirty="0">
              <a:solidFill>
                <a:srgbClr val="272525"/>
              </a:solidFill>
              <a:latin typeface="Times New Roman" panose="02020603050405020304" charset="0"/>
              <a:ea typeface="Lato" panose="020F0502020204030203" pitchFamily="34" charset="-122"/>
              <a:cs typeface="Times New Roman" panose="02020603050405020304" charset="0"/>
            </a:endParaRPr>
          </a:p>
        </p:txBody>
      </p:sp>
      <p:sp>
        <p:nvSpPr>
          <p:cNvPr id="14" name="Text 8"/>
          <p:cNvSpPr/>
          <p:nvPr/>
        </p:nvSpPr>
        <p:spPr>
          <a:xfrm>
            <a:off x="495925" y="3527375"/>
            <a:ext cx="1882676" cy="11072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dirty="0">
                <a:solidFill>
                  <a:srgbClr val="272525"/>
                </a:solidFill>
                <a:latin typeface="Times New Roman" panose="02020603050405020304" charset="0"/>
                <a:ea typeface="Gelasio" pitchFamily="34" charset="-122"/>
                <a:cs typeface="Times New Roman" panose="02020603050405020304" charset="0"/>
              </a:rPr>
              <a:t>BR-04 · Điều kiện đánh giá</a:t>
            </a:r>
            <a:endParaRPr lang="en-US" dirty="0">
              <a:solidFill>
                <a:srgbClr val="272525"/>
              </a:solidFill>
              <a:latin typeface="Times New Roman" panose="02020603050405020304" charset="0"/>
              <a:ea typeface="Gelasio" pitchFamily="34" charset="-122"/>
              <a:cs typeface="Times New Roman" panose="02020603050405020304" charset="0"/>
            </a:endParaRPr>
          </a:p>
        </p:txBody>
      </p:sp>
      <p:sp>
        <p:nvSpPr>
          <p:cNvPr id="15" name="Text 9"/>
          <p:cNvSpPr/>
          <p:nvPr/>
        </p:nvSpPr>
        <p:spPr>
          <a:xfrm>
            <a:off x="495935" y="3829685"/>
            <a:ext cx="4029075" cy="20574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dirty="0">
                <a:solidFill>
                  <a:srgbClr val="272525"/>
                </a:solidFill>
                <a:latin typeface="Times New Roman" panose="02020603050405020304" charset="0"/>
                <a:ea typeface="Lato" panose="020F0502020204030203" pitchFamily="34" charset="-122"/>
                <a:cs typeface="Times New Roman" panose="02020603050405020304" charset="0"/>
              </a:rPr>
              <a:t>Chỉ đánh giá sau khi ghi danh thành công.</a:t>
            </a:r>
            <a:endParaRPr lang="en-US" dirty="0">
              <a:solidFill>
                <a:srgbClr val="272525"/>
              </a:solidFill>
              <a:latin typeface="Times New Roman" panose="02020603050405020304" charset="0"/>
              <a:ea typeface="Lato" panose="020F0502020204030203" pitchFamily="34" charset="-122"/>
              <a:cs typeface="Times New Roman" panose="02020603050405020304" charset="0"/>
            </a:endParaRPr>
          </a:p>
        </p:txBody>
      </p:sp>
      <p:sp>
        <p:nvSpPr>
          <p:cNvPr id="17" name="Text 10"/>
          <p:cNvSpPr/>
          <p:nvPr/>
        </p:nvSpPr>
        <p:spPr>
          <a:xfrm>
            <a:off x="486316" y="4106917"/>
            <a:ext cx="3899520" cy="11072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dirty="0">
                <a:solidFill>
                  <a:srgbClr val="272525"/>
                </a:solidFill>
                <a:latin typeface="Times New Roman" panose="02020603050405020304" charset="0"/>
                <a:ea typeface="Gelasio" pitchFamily="34" charset="-122"/>
                <a:cs typeface="Times New Roman" panose="02020603050405020304" charset="0"/>
              </a:rPr>
              <a:t>BR-05 · Toàn vẹn giao dịch</a:t>
            </a:r>
            <a:endParaRPr lang="en-US" dirty="0">
              <a:solidFill>
                <a:srgbClr val="272525"/>
              </a:solidFill>
              <a:latin typeface="Times New Roman" panose="02020603050405020304" charset="0"/>
              <a:ea typeface="Gelasio" pitchFamily="34" charset="-122"/>
              <a:cs typeface="Times New Roman" panose="02020603050405020304" charset="0"/>
            </a:endParaRPr>
          </a:p>
        </p:txBody>
      </p:sp>
      <p:sp>
        <p:nvSpPr>
          <p:cNvPr id="18" name="Text 11"/>
          <p:cNvSpPr/>
          <p:nvPr/>
        </p:nvSpPr>
        <p:spPr>
          <a:xfrm>
            <a:off x="495935" y="4346575"/>
            <a:ext cx="2920365" cy="51689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dirty="0">
                <a:solidFill>
                  <a:srgbClr val="272525"/>
                </a:solidFill>
                <a:latin typeface="Times New Roman" panose="02020603050405020304" charset="0"/>
                <a:ea typeface="Lato" panose="020F0502020204030203" pitchFamily="34" charset="-122"/>
                <a:cs typeface="Times New Roman" panose="02020603050405020304" charset="0"/>
              </a:rPr>
              <a:t>Transaction bất biến, sinh ra đối soát mỗi ghi danh.</a:t>
            </a:r>
            <a:endParaRPr lang="en-US" dirty="0">
              <a:solidFill>
                <a:srgbClr val="272525"/>
              </a:solidFill>
              <a:latin typeface="Times New Roman" panose="02020603050405020304" charset="0"/>
              <a:ea typeface="Lato" panose="020F0502020204030203" pitchFamily="34" charset="-122"/>
              <a:cs typeface="Times New Roman" panose="02020603050405020304" charset="0"/>
            </a:endParaRPr>
          </a:p>
        </p:txBody>
      </p:sp>
      <p:pic>
        <p:nvPicPr>
          <p:cNvPr id="19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54295" y="1173480"/>
            <a:ext cx="3820795" cy="3820795"/>
          </a:xfrm>
          <a:prstGeom prst="rect">
            <a:avLst/>
          </a:prstGeom>
        </p:spPr>
      </p:pic>
      <p:pic>
        <p:nvPicPr>
          <p:cNvPr id="20" name="Picture 1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96100" y="4730115"/>
            <a:ext cx="2247900" cy="41338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95935" y="514985"/>
            <a:ext cx="8151495" cy="78676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800" b="1" dirty="0">
                <a:solidFill>
                  <a:srgbClr val="312F2B"/>
                </a:solidFill>
                <a:latin typeface="Times New Roman" panose="02020603050405020304" charset="0"/>
                <a:ea typeface="Gelasio" pitchFamily="34" charset="-122"/>
                <a:cs typeface="Times New Roman" panose="02020603050405020304" charset="0"/>
              </a:rPr>
              <a:t>Thiết kế cơ sở dữ liệu</a:t>
            </a:r>
            <a:endParaRPr lang="en-US" sz="2800" b="1" dirty="0">
              <a:solidFill>
                <a:srgbClr val="312F2B"/>
              </a:solidFill>
              <a:latin typeface="Times New Roman" panose="02020603050405020304" charset="0"/>
              <a:ea typeface="Gelasio" pitchFamily="34" charset="-122"/>
              <a:cs typeface="Times New Roman" panose="0202060305040502030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496119" y="2696245"/>
            <a:ext cx="3989412" cy="255166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Lato" panose="020F0502020204030203" pitchFamily="34" charset="0"/>
                <a:ea typeface="Lato" panose="020F0502020204030203" pitchFamily="34" charset="-122"/>
                <a:cs typeface="Lato" panose="020F0502020204030203" pitchFamily="34" charset="-120"/>
              </a:rPr>
              <a:t>Hệ thống sử dụng </a:t>
            </a:r>
            <a:r>
              <a:rPr lang="en-US" sz="1600" b="1" dirty="0">
                <a:solidFill>
                  <a:srgbClr val="272525"/>
                </a:solidFill>
                <a:latin typeface="Lato Bold" panose="020F0802020204030203" pitchFamily="34" charset="0"/>
                <a:ea typeface="Lato Bold" panose="020F0802020204030203" pitchFamily="34" charset="-122"/>
                <a:cs typeface="Lato Bold" panose="020F0802020204030203" pitchFamily="34" charset="-120"/>
              </a:rPr>
              <a:t>MongoDB</a:t>
            </a:r>
            <a:r>
              <a:rPr lang="en-US" sz="1600" dirty="0">
                <a:solidFill>
                  <a:srgbClr val="272525"/>
                </a:solidFill>
                <a:latin typeface="Lato" panose="020F0502020204030203" pitchFamily="34" charset="0"/>
                <a:ea typeface="Lato" panose="020F0502020204030203" pitchFamily="34" charset="-122"/>
                <a:cs typeface="Lato" panose="020F0502020204030203" pitchFamily="34" charset="-120"/>
              </a:rPr>
              <a:t> (NoSQL) qua Mongoose ODM. Sáu collection cốt lõi liên kết qua ObjectId: </a:t>
            </a:r>
            <a:r>
              <a:rPr lang="en-US" sz="1600" b="1" dirty="0">
                <a:solidFill>
                  <a:srgbClr val="272525"/>
                </a:solidFill>
                <a:latin typeface="Lato Bold" panose="020F0802020204030203" pitchFamily="34" charset="0"/>
                <a:ea typeface="Lato Bold" panose="020F0802020204030203" pitchFamily="34" charset="-122"/>
                <a:cs typeface="Lato Bold" panose="020F0802020204030203" pitchFamily="34" charset="-120"/>
              </a:rPr>
              <a:t>users</a:t>
            </a:r>
            <a:r>
              <a:rPr lang="en-US" sz="1600" dirty="0">
                <a:solidFill>
                  <a:srgbClr val="272525"/>
                </a:solidFill>
                <a:latin typeface="Lato" panose="020F0502020204030203" pitchFamily="34" charset="0"/>
                <a:ea typeface="Lato" panose="020F0502020204030203" pitchFamily="34" charset="-122"/>
                <a:cs typeface="Lato" panose="020F0502020204030203" pitchFamily="34" charset="-120"/>
              </a:rPr>
              <a:t> quản lý tài khoản và số dư; </a:t>
            </a:r>
            <a:r>
              <a:rPr lang="en-US" sz="1600" b="1" dirty="0">
                <a:solidFill>
                  <a:srgbClr val="272525"/>
                </a:solidFill>
                <a:latin typeface="Lato Bold" panose="020F0802020204030203" pitchFamily="34" charset="0"/>
                <a:ea typeface="Lato Bold" panose="020F0802020204030203" pitchFamily="34" charset="-122"/>
                <a:cs typeface="Lato Bold" panose="020F0802020204030203" pitchFamily="34" charset="-120"/>
              </a:rPr>
              <a:t>courses</a:t>
            </a:r>
            <a:r>
              <a:rPr lang="en-US" sz="1600" dirty="0">
                <a:solidFill>
                  <a:srgbClr val="272525"/>
                </a:solidFill>
                <a:latin typeface="Lato" panose="020F0502020204030203" pitchFamily="34" charset="0"/>
                <a:ea typeface="Lato" panose="020F0502020204030203" pitchFamily="34" charset="-122"/>
                <a:cs typeface="Lato" panose="020F0502020204030203" pitchFamily="34" charset="-120"/>
              </a:rPr>
              <a:t> lưu danh mục khóa học; </a:t>
            </a:r>
            <a:r>
              <a:rPr lang="en-US" sz="1600" b="1" dirty="0">
                <a:solidFill>
                  <a:srgbClr val="272525"/>
                </a:solidFill>
                <a:latin typeface="Lato Bold" panose="020F0802020204030203" pitchFamily="34" charset="0"/>
                <a:ea typeface="Lato Bold" panose="020F0802020204030203" pitchFamily="34" charset="-122"/>
                <a:cs typeface="Lato Bold" panose="020F0802020204030203" pitchFamily="34" charset="-120"/>
              </a:rPr>
              <a:t>lessons</a:t>
            </a:r>
            <a:r>
              <a:rPr lang="en-US" sz="1600" dirty="0">
                <a:solidFill>
                  <a:srgbClr val="272525"/>
                </a:solidFill>
                <a:latin typeface="Lato" panose="020F0502020204030203" pitchFamily="34" charset="0"/>
                <a:ea typeface="Lato" panose="020F0502020204030203" pitchFamily="34" charset="-122"/>
                <a:cs typeface="Lato" panose="020F0502020204030203" pitchFamily="34" charset="-120"/>
              </a:rPr>
              <a:t> chứa nội dung bài học; </a:t>
            </a:r>
            <a:r>
              <a:rPr lang="en-US" sz="1600" b="1" dirty="0">
                <a:solidFill>
                  <a:srgbClr val="272525"/>
                </a:solidFill>
                <a:latin typeface="Lato Bold" panose="020F0802020204030203" pitchFamily="34" charset="0"/>
                <a:ea typeface="Lato Bold" panose="020F0802020204030203" pitchFamily="34" charset="-122"/>
                <a:cs typeface="Lato Bold" panose="020F0802020204030203" pitchFamily="34" charset="-120"/>
              </a:rPr>
              <a:t>enrollments</a:t>
            </a:r>
            <a:r>
              <a:rPr lang="en-US" sz="1600" dirty="0">
                <a:solidFill>
                  <a:srgbClr val="272525"/>
                </a:solidFill>
                <a:latin typeface="Lato" panose="020F0502020204030203" pitchFamily="34" charset="0"/>
                <a:ea typeface="Lato" panose="020F0502020204030203" pitchFamily="34" charset="-122"/>
                <a:cs typeface="Lato" panose="020F0502020204030203" pitchFamily="34" charset="-120"/>
              </a:rPr>
              <a:t> ghi nhận ghi danh; </a:t>
            </a:r>
            <a:r>
              <a:rPr lang="en-US" sz="1600" b="1" dirty="0">
                <a:solidFill>
                  <a:srgbClr val="272525"/>
                </a:solidFill>
                <a:latin typeface="Lato Bold" panose="020F0802020204030203" pitchFamily="34" charset="0"/>
                <a:ea typeface="Lato Bold" panose="020F0802020204030203" pitchFamily="34" charset="-122"/>
                <a:cs typeface="Lato Bold" panose="020F0802020204030203" pitchFamily="34" charset="-120"/>
              </a:rPr>
              <a:t>transactions</a:t>
            </a:r>
            <a:r>
              <a:rPr lang="en-US" sz="1600" dirty="0">
                <a:solidFill>
                  <a:srgbClr val="272525"/>
                </a:solidFill>
                <a:latin typeface="Lato" panose="020F0502020204030203" pitchFamily="34" charset="0"/>
                <a:ea typeface="Lato" panose="020F0502020204030203" pitchFamily="34" charset="-122"/>
                <a:cs typeface="Lato" panose="020F0502020204030203" pitchFamily="34" charset="-120"/>
              </a:rPr>
              <a:t> lưu vết giao dịch ví; </a:t>
            </a:r>
            <a:r>
              <a:rPr lang="en-US" sz="1600" b="1" dirty="0">
                <a:solidFill>
                  <a:srgbClr val="272525"/>
                </a:solidFill>
                <a:latin typeface="Lato Bold" panose="020F0802020204030203" pitchFamily="34" charset="0"/>
                <a:ea typeface="Lato Bold" panose="020F0802020204030203" pitchFamily="34" charset="-122"/>
                <a:cs typeface="Lato Bold" panose="020F0802020204030203" pitchFamily="34" charset="-120"/>
              </a:rPr>
              <a:t>reviews</a:t>
            </a:r>
            <a:r>
              <a:rPr lang="en-US" sz="1600" dirty="0">
                <a:solidFill>
                  <a:srgbClr val="272525"/>
                </a:solidFill>
                <a:latin typeface="Lato" panose="020F0502020204030203" pitchFamily="34" charset="0"/>
                <a:ea typeface="Lato" panose="020F0502020204030203" pitchFamily="34" charset="-122"/>
                <a:cs typeface="Lato" panose="020F0502020204030203" pitchFamily="34" charset="-120"/>
              </a:rPr>
              <a:t> lưu đánh giá.</a:t>
            </a:r>
            <a:endParaRPr lang="en-US" sz="1600" dirty="0">
              <a:solidFill>
                <a:srgbClr val="272525"/>
              </a:solidFill>
              <a:latin typeface="Lato" panose="020F0502020204030203" pitchFamily="34" charset="0"/>
              <a:ea typeface="Lato" panose="020F0502020204030203" pitchFamily="34" charset="-122"/>
              <a:cs typeface="Lato" panose="020F0502020204030203" pitchFamily="34" charset="-120"/>
            </a:endParaRPr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63232" y="829121"/>
            <a:ext cx="3989412" cy="3989412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96100" y="4730115"/>
            <a:ext cx="2247900" cy="41338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96119" y="680219"/>
            <a:ext cx="8151763" cy="44298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Xây dựng Frontend &amp; Backend</a:t>
            </a:r>
            <a:endParaRPr lang="en-US" sz="27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571625"/>
            <a:ext cx="5177582" cy="2933923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024339" y="1477566"/>
            <a:ext cx="2628230" cy="22145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Frontend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6024339" y="1840781"/>
            <a:ext cx="2628230" cy="113407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Lato" panose="020F0502020204030203" pitchFamily="34" charset="0"/>
                <a:ea typeface="Lato" panose="020F0502020204030203" pitchFamily="34" charset="-122"/>
                <a:cs typeface="Lato" panose="020F0502020204030203" pitchFamily="34" charset="-120"/>
              </a:rPr>
              <a:t>HTML5, CSS3, Vanilla JS thuần — không phụ thuộc framework. Tệp HTML độc lập theo màn hình: index, course, learn, profile, admin. Fetch API đính kèm JWT, responsive trên mọi thiết bị.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6024339" y="3116610"/>
            <a:ext cx="2628230" cy="22145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Backend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6024339" y="3479825"/>
            <a:ext cx="2628230" cy="113407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Lato" panose="020F0502020204030203" pitchFamily="34" charset="0"/>
                <a:ea typeface="Lato" panose="020F0502020204030203" pitchFamily="34" charset="-122"/>
                <a:cs typeface="Lato" panose="020F0502020204030203" pitchFamily="34" charset="-120"/>
              </a:rPr>
              <a:t>Node.js + Express.js, kiến trúc MVC. Routes định nghĩa endpoint, Controllers xử lý logic, Middleware xác thực JWT (protect, authorize). CORS, dotenv quản lý biến môi trường nhạy cảm.</a:t>
            </a:r>
            <a:endParaRPr lang="en-US" sz="1100" dirty="0"/>
          </a:p>
        </p:txBody>
      </p:sp>
      <p:pic>
        <p:nvPicPr>
          <p:cNvPr id="18" name="Picture 1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96100" y="4730115"/>
            <a:ext cx="2247900" cy="41338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96119" y="675010"/>
            <a:ext cx="8151763" cy="43606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0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API tiêu biểu &amp; Kiểm thử hệ thống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96119" y="1317129"/>
            <a:ext cx="8151763" cy="2826841"/>
          </a:xfrm>
          <a:prstGeom prst="roundRect">
            <a:avLst>
              <a:gd name="adj" fmla="val 2073"/>
            </a:avLst>
          </a:prstGeom>
          <a:noFill/>
          <a:ln w="4763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0881" y="1321891"/>
            <a:ext cx="8142238" cy="617190"/>
          </a:xfrm>
          <a:prstGeom prst="rect">
            <a:avLst/>
          </a:prstGeom>
          <a:solidFill>
            <a:srgbClr val="FFFFFF">
              <a:alpha val="4000"/>
            </a:srgbClr>
          </a:solidFill>
        </p:spPr>
      </p:sp>
      <p:sp>
        <p:nvSpPr>
          <p:cNvPr id="6" name="Shape 4"/>
          <p:cNvSpPr/>
          <p:nvPr/>
        </p:nvSpPr>
        <p:spPr>
          <a:xfrm>
            <a:off x="501030" y="1321891"/>
            <a:ext cx="977057" cy="617190"/>
          </a:xfrm>
          <a:prstGeom prst="rect">
            <a:avLst/>
          </a:prstGeom>
          <a:solidFill>
            <a:srgbClr val="D3C1B6"/>
          </a:solidFill>
        </p:spPr>
      </p:sp>
      <p:sp>
        <p:nvSpPr>
          <p:cNvPr id="7" name="Text 5"/>
          <p:cNvSpPr/>
          <p:nvPr/>
        </p:nvSpPr>
        <p:spPr>
          <a:xfrm>
            <a:off x="640556" y="1409030"/>
            <a:ext cx="695623" cy="442913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050" b="1" dirty="0">
                <a:solidFill>
                  <a:srgbClr val="272525"/>
                </a:solidFill>
                <a:latin typeface="Lato Bold" panose="020F0802020204030203" pitchFamily="34" charset="0"/>
                <a:ea typeface="Lato Bold" panose="020F0802020204030203" pitchFamily="34" charset="-122"/>
                <a:cs typeface="Lato Bold" panose="020F0802020204030203" pitchFamily="34" charset="-120"/>
              </a:rPr>
              <a:t>Phương thức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1478087" y="1321891"/>
            <a:ext cx="2442642" cy="617190"/>
          </a:xfrm>
          <a:prstGeom prst="rect">
            <a:avLst/>
          </a:prstGeom>
          <a:solidFill>
            <a:srgbClr val="D3C1B6"/>
          </a:solidFill>
        </p:spPr>
      </p:sp>
      <p:sp>
        <p:nvSpPr>
          <p:cNvPr id="9" name="Text 7"/>
          <p:cNvSpPr/>
          <p:nvPr/>
        </p:nvSpPr>
        <p:spPr>
          <a:xfrm>
            <a:off x="1619994" y="1409030"/>
            <a:ext cx="2616026" cy="22145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050" b="1" dirty="0">
                <a:solidFill>
                  <a:srgbClr val="272525"/>
                </a:solidFill>
                <a:latin typeface="Lato Bold" panose="020F0802020204030203" pitchFamily="34" charset="0"/>
                <a:ea typeface="Lato Bold" panose="020F0802020204030203" pitchFamily="34" charset="-122"/>
                <a:cs typeface="Lato Bold" panose="020F0802020204030203" pitchFamily="34" charset="-120"/>
              </a:rPr>
              <a:t>Endpoint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920728" y="1321891"/>
            <a:ext cx="1221284" cy="617190"/>
          </a:xfrm>
          <a:prstGeom prst="rect">
            <a:avLst/>
          </a:prstGeom>
          <a:solidFill>
            <a:srgbClr val="D3C1B6"/>
          </a:solidFill>
        </p:spPr>
      </p:sp>
      <p:sp>
        <p:nvSpPr>
          <p:cNvPr id="11" name="Text 9"/>
          <p:cNvSpPr/>
          <p:nvPr/>
        </p:nvSpPr>
        <p:spPr>
          <a:xfrm>
            <a:off x="4062636" y="1409030"/>
            <a:ext cx="1394668" cy="22145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050" b="1" dirty="0">
                <a:solidFill>
                  <a:srgbClr val="272525"/>
                </a:solidFill>
                <a:latin typeface="Lato Bold" panose="020F0802020204030203" pitchFamily="34" charset="0"/>
                <a:ea typeface="Lato Bold" panose="020F0802020204030203" pitchFamily="34" charset="-122"/>
                <a:cs typeface="Lato Bold" panose="020F0802020204030203" pitchFamily="34" charset="-120"/>
              </a:rPr>
              <a:t>Vai trò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142012" y="1321891"/>
            <a:ext cx="3501107" cy="617190"/>
          </a:xfrm>
          <a:prstGeom prst="rect">
            <a:avLst/>
          </a:prstGeom>
          <a:solidFill>
            <a:srgbClr val="D3C1B6"/>
          </a:solidFill>
        </p:spPr>
      </p:sp>
      <p:sp>
        <p:nvSpPr>
          <p:cNvPr id="13" name="Text 11"/>
          <p:cNvSpPr/>
          <p:nvPr/>
        </p:nvSpPr>
        <p:spPr>
          <a:xfrm>
            <a:off x="5283919" y="1409030"/>
            <a:ext cx="3676873" cy="22145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050" b="1" dirty="0">
                <a:solidFill>
                  <a:srgbClr val="272525"/>
                </a:solidFill>
                <a:latin typeface="Lato Bold" panose="020F0802020204030203" pitchFamily="34" charset="0"/>
                <a:ea typeface="Lato Bold" panose="020F0802020204030203" pitchFamily="34" charset="-122"/>
                <a:cs typeface="Lato Bold" panose="020F0802020204030203" pitchFamily="34" charset="-120"/>
              </a:rPr>
              <a:t>Chức năng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00881" y="1939082"/>
            <a:ext cx="8142238" cy="395734"/>
          </a:xfrm>
          <a:prstGeom prst="rect">
            <a:avLst/>
          </a:prstGeom>
          <a:solidFill>
            <a:srgbClr val="000000">
              <a:alpha val="4000"/>
            </a:srgbClr>
          </a:solidFill>
        </p:spPr>
      </p:sp>
      <p:sp>
        <p:nvSpPr>
          <p:cNvPr id="15" name="Text 13"/>
          <p:cNvSpPr/>
          <p:nvPr/>
        </p:nvSpPr>
        <p:spPr>
          <a:xfrm>
            <a:off x="640556" y="2026221"/>
            <a:ext cx="1152823" cy="22145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Lato" panose="020F0502020204030203" pitchFamily="34" charset="0"/>
                <a:ea typeface="Lato" panose="020F0502020204030203" pitchFamily="34" charset="-122"/>
                <a:cs typeface="Lato" panose="020F0502020204030203" pitchFamily="34" charset="-120"/>
              </a:rPr>
              <a:t>POST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1619994" y="2026221"/>
            <a:ext cx="2616026" cy="22145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Lato" panose="020F0502020204030203" pitchFamily="34" charset="0"/>
                <a:ea typeface="Lato" panose="020F0502020204030203" pitchFamily="34" charset="-122"/>
                <a:cs typeface="Lato" panose="020F0502020204030203" pitchFamily="34" charset="-120"/>
              </a:rPr>
              <a:t>/api/auth/register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062636" y="2026221"/>
            <a:ext cx="1394668" cy="22145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Lato" panose="020F0502020204030203" pitchFamily="34" charset="0"/>
                <a:ea typeface="Lato" panose="020F0502020204030203" pitchFamily="34" charset="-122"/>
                <a:cs typeface="Lato" panose="020F0502020204030203" pitchFamily="34" charset="-120"/>
              </a:rPr>
              <a:t>Public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283919" y="2026221"/>
            <a:ext cx="3676873" cy="22145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Lato" panose="020F0502020204030203" pitchFamily="34" charset="0"/>
                <a:ea typeface="Lato" panose="020F0502020204030203" pitchFamily="34" charset="-122"/>
                <a:cs typeface="Lato" panose="020F0502020204030203" pitchFamily="34" charset="-120"/>
              </a:rPr>
              <a:t>Đăng ký tài khoản Học viên mới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00881" y="2334816"/>
            <a:ext cx="8142238" cy="395734"/>
          </a:xfrm>
          <a:prstGeom prst="rect">
            <a:avLst/>
          </a:prstGeom>
          <a:solidFill>
            <a:srgbClr val="FFFFFF">
              <a:alpha val="4000"/>
            </a:srgbClr>
          </a:solidFill>
        </p:spPr>
      </p:sp>
      <p:sp>
        <p:nvSpPr>
          <p:cNvPr id="20" name="Text 18"/>
          <p:cNvSpPr/>
          <p:nvPr/>
        </p:nvSpPr>
        <p:spPr>
          <a:xfrm>
            <a:off x="640556" y="2421954"/>
            <a:ext cx="1152823" cy="22145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Lato" panose="020F0502020204030203" pitchFamily="34" charset="0"/>
                <a:ea typeface="Lato" panose="020F0502020204030203" pitchFamily="34" charset="-122"/>
                <a:cs typeface="Lato" panose="020F0502020204030203" pitchFamily="34" charset="-120"/>
              </a:rPr>
              <a:t>POST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1619994" y="2421954"/>
            <a:ext cx="2616026" cy="22145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Lato" panose="020F0502020204030203" pitchFamily="34" charset="0"/>
                <a:ea typeface="Lato" panose="020F0502020204030203" pitchFamily="34" charset="-122"/>
                <a:cs typeface="Lato" panose="020F0502020204030203" pitchFamily="34" charset="-120"/>
              </a:rPr>
              <a:t>/api/auth/login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062636" y="2421954"/>
            <a:ext cx="1394668" cy="22145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Lato" panose="020F0502020204030203" pitchFamily="34" charset="0"/>
                <a:ea typeface="Lato" panose="020F0502020204030203" pitchFamily="34" charset="-122"/>
                <a:cs typeface="Lato" panose="020F0502020204030203" pitchFamily="34" charset="-120"/>
              </a:rPr>
              <a:t>Public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5283919" y="2421954"/>
            <a:ext cx="3676873" cy="22145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Lato" panose="020F0502020204030203" pitchFamily="34" charset="0"/>
                <a:ea typeface="Lato" panose="020F0502020204030203" pitchFamily="34" charset="-122"/>
                <a:cs typeface="Lato" panose="020F0502020204030203" pitchFamily="34" charset="-120"/>
              </a:rPr>
              <a:t>Đăng nhập, nhận Token JWT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00881" y="2730550"/>
            <a:ext cx="8142238" cy="395734"/>
          </a:xfrm>
          <a:prstGeom prst="rect">
            <a:avLst/>
          </a:prstGeom>
          <a:solidFill>
            <a:srgbClr val="000000">
              <a:alpha val="4000"/>
            </a:srgbClr>
          </a:solidFill>
        </p:spPr>
      </p:sp>
      <p:sp>
        <p:nvSpPr>
          <p:cNvPr id="25" name="Text 23"/>
          <p:cNvSpPr/>
          <p:nvPr/>
        </p:nvSpPr>
        <p:spPr>
          <a:xfrm>
            <a:off x="640556" y="2817688"/>
            <a:ext cx="1152823" cy="22145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Lato" panose="020F0502020204030203" pitchFamily="34" charset="0"/>
                <a:ea typeface="Lato" panose="020F0502020204030203" pitchFamily="34" charset="-122"/>
                <a:cs typeface="Lato" panose="020F0502020204030203" pitchFamily="34" charset="-120"/>
              </a:rPr>
              <a:t>POST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1619994" y="2817688"/>
            <a:ext cx="2616026" cy="22145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Lato" panose="020F0502020204030203" pitchFamily="34" charset="0"/>
                <a:ea typeface="Lato" panose="020F0502020204030203" pitchFamily="34" charset="-122"/>
                <a:cs typeface="Lato" panose="020F0502020204030203" pitchFamily="34" charset="-120"/>
              </a:rPr>
              <a:t>/api/enrollments/:courseId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062636" y="2817688"/>
            <a:ext cx="1394668" cy="22145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Lato" panose="020F0502020204030203" pitchFamily="34" charset="0"/>
                <a:ea typeface="Lato" panose="020F0502020204030203" pitchFamily="34" charset="-122"/>
                <a:cs typeface="Lato" panose="020F0502020204030203" pitchFamily="34" charset="-120"/>
              </a:rPr>
              <a:t>User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5283919" y="2817688"/>
            <a:ext cx="3676873" cy="22145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Lato" panose="020F0502020204030203" pitchFamily="34" charset="0"/>
                <a:ea typeface="Lato" panose="020F0502020204030203" pitchFamily="34" charset="-122"/>
                <a:cs typeface="Lato" panose="020F0502020204030203" pitchFamily="34" charset="-120"/>
              </a:rPr>
              <a:t>Ghi danh, trừ số dư, cấp quyền truy cập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500881" y="3126284"/>
            <a:ext cx="8142238" cy="395734"/>
          </a:xfrm>
          <a:prstGeom prst="rect">
            <a:avLst/>
          </a:prstGeom>
          <a:solidFill>
            <a:srgbClr val="FFFFFF">
              <a:alpha val="4000"/>
            </a:srgbClr>
          </a:solidFill>
        </p:spPr>
      </p:sp>
      <p:sp>
        <p:nvSpPr>
          <p:cNvPr id="30" name="Text 28"/>
          <p:cNvSpPr/>
          <p:nvPr/>
        </p:nvSpPr>
        <p:spPr>
          <a:xfrm>
            <a:off x="640556" y="3213422"/>
            <a:ext cx="1152823" cy="22145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Lato" panose="020F0502020204030203" pitchFamily="34" charset="0"/>
                <a:ea typeface="Lato" panose="020F0502020204030203" pitchFamily="34" charset="-122"/>
                <a:cs typeface="Lato" panose="020F0502020204030203" pitchFamily="34" charset="-120"/>
              </a:rPr>
              <a:t>GET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1619994" y="3213422"/>
            <a:ext cx="2616026" cy="22145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Lato" panose="020F0502020204030203" pitchFamily="34" charset="0"/>
                <a:ea typeface="Lato" panose="020F0502020204030203" pitchFamily="34" charset="-122"/>
                <a:cs typeface="Lato" panose="020F0502020204030203" pitchFamily="34" charset="-120"/>
              </a:rPr>
              <a:t>/api/lessons/course/:courseId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4062636" y="3213422"/>
            <a:ext cx="1394668" cy="22145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Lato" panose="020F0502020204030203" pitchFamily="34" charset="0"/>
                <a:ea typeface="Lato" panose="020F0502020204030203" pitchFamily="34" charset="-122"/>
                <a:cs typeface="Lato" panose="020F0502020204030203" pitchFamily="34" charset="-120"/>
              </a:rPr>
              <a:t>Enrolled User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5283919" y="3213422"/>
            <a:ext cx="3676873" cy="22145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Lato" panose="020F0502020204030203" pitchFamily="34" charset="0"/>
                <a:ea typeface="Lato" panose="020F0502020204030203" pitchFamily="34" charset="-122"/>
                <a:cs typeface="Lato" panose="020F0502020204030203" pitchFamily="34" charset="-120"/>
              </a:rPr>
              <a:t>Lấy danh sách bài học (chỉ tài khoản đã ghi danh)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00881" y="3522018"/>
            <a:ext cx="8142238" cy="617190"/>
          </a:xfrm>
          <a:prstGeom prst="rect">
            <a:avLst/>
          </a:prstGeom>
          <a:solidFill>
            <a:srgbClr val="000000">
              <a:alpha val="4000"/>
            </a:srgbClr>
          </a:solidFill>
        </p:spPr>
      </p:sp>
      <p:sp>
        <p:nvSpPr>
          <p:cNvPr id="35" name="Text 33"/>
          <p:cNvSpPr/>
          <p:nvPr/>
        </p:nvSpPr>
        <p:spPr>
          <a:xfrm>
            <a:off x="640556" y="3609156"/>
            <a:ext cx="695623" cy="442913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Lato" panose="020F0502020204030203" pitchFamily="34" charset="0"/>
                <a:ea typeface="Lato" panose="020F0502020204030203" pitchFamily="34" charset="-122"/>
                <a:cs typeface="Lato" panose="020F0502020204030203" pitchFamily="34" charset="-120"/>
              </a:rPr>
              <a:t>POST/PUT/DELETE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1619994" y="3609156"/>
            <a:ext cx="2616026" cy="22145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Lato" panose="020F0502020204030203" pitchFamily="34" charset="0"/>
                <a:ea typeface="Lato" panose="020F0502020204030203" pitchFamily="34" charset="-122"/>
                <a:cs typeface="Lato" panose="020F0502020204030203" pitchFamily="34" charset="-120"/>
              </a:rPr>
              <a:t>/api/admin/courses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4062636" y="3609156"/>
            <a:ext cx="1394668" cy="22145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Lato" panose="020F0502020204030203" pitchFamily="34" charset="0"/>
                <a:ea typeface="Lato" panose="020F0502020204030203" pitchFamily="34" charset="-122"/>
                <a:cs typeface="Lato" panose="020F0502020204030203" pitchFamily="34" charset="-120"/>
              </a:rPr>
              <a:t>Admin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5283919" y="3609156"/>
            <a:ext cx="3676873" cy="22145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Lato" panose="020F0502020204030203" pitchFamily="34" charset="0"/>
                <a:ea typeface="Lato" panose="020F0502020204030203" pitchFamily="34" charset="-122"/>
                <a:cs typeface="Lato" panose="020F0502020204030203" pitchFamily="34" charset="-120"/>
              </a:rPr>
              <a:t>Thêm/Sửa/Xóa dữ liệu khóa học</a:t>
            </a:r>
            <a:endParaRPr lang="en-US" sz="1050" dirty="0"/>
          </a:p>
        </p:txBody>
      </p:sp>
      <p:pic>
        <p:nvPicPr>
          <p:cNvPr id="40" name="Picture 3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96100" y="4730115"/>
            <a:ext cx="2247900" cy="41338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96119" y="677763"/>
            <a:ext cx="4722763" cy="83061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60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Kiến trúc triển khai ba dịch vụ Cloud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96119" y="1695227"/>
            <a:ext cx="2299097" cy="1381646"/>
          </a:xfrm>
          <a:prstGeom prst="roundRect">
            <a:avLst>
              <a:gd name="adj" fmla="val 4040"/>
            </a:avLst>
          </a:prstGeom>
          <a:solidFill>
            <a:srgbClr val="E8E8E3"/>
          </a:solidFill>
          <a:ln w="4763">
            <a:solidFill>
              <a:srgbClr val="CECEC9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33785" y="1832893"/>
            <a:ext cx="2023765" cy="20769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Vercel — Frontend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633785" y="2115294"/>
            <a:ext cx="2023765" cy="823913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Lato" panose="020F0502020204030203" pitchFamily="34" charset="0"/>
                <a:ea typeface="Lato" panose="020F0502020204030203" pitchFamily="34" charset="-122"/>
                <a:cs typeface="Lato" panose="020F0502020204030203" pitchFamily="34" charset="-120"/>
              </a:rPr>
              <a:t>Hosting HTML/CSS/JS tĩnh. Biến CLOUD_API_URL trỏ tới API Render. Tự động deploy từ GitHub.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2919785" y="1695227"/>
            <a:ext cx="2299097" cy="1381646"/>
          </a:xfrm>
          <a:prstGeom prst="roundRect">
            <a:avLst>
              <a:gd name="adj" fmla="val 4040"/>
            </a:avLst>
          </a:prstGeom>
          <a:solidFill>
            <a:srgbClr val="E8E8E3"/>
          </a:solidFill>
          <a:ln w="4763">
            <a:solidFill>
              <a:srgbClr val="CECEC9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057451" y="1832893"/>
            <a:ext cx="2023765" cy="20769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Render — Backend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3057451" y="2115294"/>
            <a:ext cx="2023765" cy="823913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Lato" panose="020F0502020204030203" pitchFamily="34" charset="0"/>
                <a:ea typeface="Lato" panose="020F0502020204030203" pitchFamily="34" charset="-122"/>
                <a:cs typeface="Lato" panose="020F0502020204030203" pitchFamily="34" charset="-120"/>
              </a:rPr>
              <a:t>Web Service Node.js. Build: npm install. Start: npm start. Biến MONGO_URI và JWT_SECRET ẩn trong Environment Variables.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96119" y="3201442"/>
            <a:ext cx="4722763" cy="969690"/>
          </a:xfrm>
          <a:prstGeom prst="roundRect">
            <a:avLst>
              <a:gd name="adj" fmla="val 5757"/>
            </a:avLst>
          </a:prstGeom>
          <a:solidFill>
            <a:srgbClr val="E8E8E3"/>
          </a:solidFill>
          <a:ln w="4763">
            <a:solidFill>
              <a:srgbClr val="CECEC9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33785" y="3339108"/>
            <a:ext cx="4447431" cy="20769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MongoDB Atlas — Database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633785" y="3621509"/>
            <a:ext cx="4447431" cy="41195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Lato" panose="020F0502020204030203" pitchFamily="34" charset="0"/>
                <a:ea typeface="Lato" panose="020F0502020204030203" pitchFamily="34" charset="-122"/>
                <a:cs typeface="Lato" panose="020F0502020204030203" pitchFamily="34" charset="-120"/>
              </a:rPr>
              <a:t>Cụm NoSQL đám mây. Seed dữ liệu mẫu: khóa học, bài học, tài khoản admin. Kết nối ổn định qua chuỗi MONGO_URI.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496119" y="4311253"/>
            <a:ext cx="4722763" cy="41195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Lato" panose="020F0502020204030203" pitchFamily="34" charset="0"/>
                <a:ea typeface="Lato" panose="020F0502020204030203" pitchFamily="34" charset="-122"/>
                <a:cs typeface="Lato" panose="020F0502020204030203" pitchFamily="34" charset="-120"/>
              </a:rPr>
              <a:t>URL vận hành: </a:t>
            </a:r>
            <a:r>
              <a:rPr lang="en-US" sz="1000" b="1" dirty="0">
                <a:solidFill>
                  <a:srgbClr val="272525"/>
                </a:solidFill>
                <a:latin typeface="Lato Bold" panose="020F0802020204030203" pitchFamily="34" charset="0"/>
                <a:ea typeface="Lato Bold" panose="020F0802020204030203" pitchFamily="34" charset="-122"/>
                <a:cs typeface="Lato Bold" panose="020F0802020204030203" pitchFamily="34" charset="-120"/>
              </a:rPr>
              <a:t>chuyende1.vercel.app</a:t>
            </a:r>
            <a:r>
              <a:rPr lang="en-US" sz="1000" dirty="0">
                <a:solidFill>
                  <a:srgbClr val="272525"/>
                </a:solidFill>
                <a:latin typeface="Lato" panose="020F0502020204030203" pitchFamily="34" charset="0"/>
                <a:ea typeface="Lato" panose="020F0502020204030203" pitchFamily="34" charset="-122"/>
                <a:cs typeface="Lato" panose="020F0502020204030203" pitchFamily="34" charset="-120"/>
              </a:rPr>
              <a:t> (Frontend) · </a:t>
            </a:r>
            <a:r>
              <a:rPr lang="en-US" sz="1000" b="1" dirty="0">
                <a:solidFill>
                  <a:srgbClr val="272525"/>
                </a:solidFill>
                <a:latin typeface="Lato Bold" panose="020F0802020204030203" pitchFamily="34" charset="0"/>
                <a:ea typeface="Lato Bold" panose="020F0802020204030203" pitchFamily="34" charset="-122"/>
                <a:cs typeface="Lato Bold" panose="020F0802020204030203" pitchFamily="34" charset="-120"/>
              </a:rPr>
              <a:t>chuyende1.onrender.com</a:t>
            </a:r>
            <a:r>
              <a:rPr lang="en-US" sz="1000" dirty="0">
                <a:solidFill>
                  <a:srgbClr val="272525"/>
                </a:solidFill>
                <a:latin typeface="Lato" panose="020F0502020204030203" pitchFamily="34" charset="0"/>
                <a:ea typeface="Lato" panose="020F0502020204030203" pitchFamily="34" charset="-122"/>
                <a:cs typeface="Lato" panose="020F0502020204030203" pitchFamily="34" charset="-120"/>
              </a:rPr>
              <a:t> (Backend) · </a:t>
            </a:r>
            <a:r>
              <a:rPr lang="en-US" sz="1000" b="1" dirty="0">
                <a:solidFill>
                  <a:srgbClr val="272525"/>
                </a:solidFill>
                <a:latin typeface="Lato Bold" panose="020F0802020204030203" pitchFamily="34" charset="0"/>
                <a:ea typeface="Lato Bold" panose="020F0802020204030203" pitchFamily="34" charset="-122"/>
                <a:cs typeface="Lato Bold" panose="020F0802020204030203" pitchFamily="34" charset="-120"/>
              </a:rPr>
              <a:t>GitHub</a:t>
            </a:r>
            <a:r>
              <a:rPr lang="en-US" sz="1000" dirty="0">
                <a:solidFill>
                  <a:srgbClr val="272525"/>
                </a:solidFill>
                <a:latin typeface="Lato" panose="020F0502020204030203" pitchFamily="34" charset="0"/>
                <a:ea typeface="Lato" panose="020F0502020204030203" pitchFamily="34" charset="-122"/>
                <a:cs typeface="Lato" panose="020F0502020204030203" pitchFamily="34" charset="-120"/>
              </a:rPr>
              <a:t>: 22050025-coder/do-an-web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760958"/>
            <a:ext cx="4722763" cy="44298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Kết luận &amp; Hướng phát triển</a:t>
            </a:r>
            <a:endParaRPr lang="en-US" sz="2750" dirty="0"/>
          </a:p>
        </p:txBody>
      </p:sp>
      <p:sp>
        <p:nvSpPr>
          <p:cNvPr id="4" name="Shape 1"/>
          <p:cNvSpPr/>
          <p:nvPr/>
        </p:nvSpPr>
        <p:spPr>
          <a:xfrm>
            <a:off x="3823022" y="1416546"/>
            <a:ext cx="2392635" cy="2965996"/>
          </a:xfrm>
          <a:prstGeom prst="roundRect">
            <a:avLst>
              <a:gd name="adj" fmla="val 4266"/>
            </a:avLst>
          </a:prstGeom>
          <a:solidFill>
            <a:srgbClr val="E5E5E0">
              <a:alpha val="95000"/>
            </a:srgbClr>
          </a:solidFill>
        </p:spPr>
      </p:sp>
      <p:sp>
        <p:nvSpPr>
          <p:cNvPr id="5" name="Text 2"/>
          <p:cNvSpPr/>
          <p:nvPr/>
        </p:nvSpPr>
        <p:spPr>
          <a:xfrm>
            <a:off x="3964781" y="1558305"/>
            <a:ext cx="2109118" cy="22145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Ưu điểm đạt được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3964781" y="1921520"/>
            <a:ext cx="2109118" cy="196319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Lato" panose="020F0502020204030203" pitchFamily="34" charset="0"/>
                <a:ea typeface="Lato" panose="020F0502020204030203" pitchFamily="34" charset="-122"/>
                <a:cs typeface="Lato" panose="020F0502020204030203" pitchFamily="34" charset="-120"/>
              </a:rPr>
              <a:t>Kiến trúc Client-Server tách biệt, RESTful API chuẩn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Lato" panose="020F0502020204030203" pitchFamily="34" charset="0"/>
                <a:ea typeface="Lato" panose="020F0502020204030203" pitchFamily="34" charset="-122"/>
                <a:cs typeface="Lato" panose="020F0502020204030203" pitchFamily="34" charset="-120"/>
              </a:rPr>
              <a:t>Luồng nghiệp vụ e-learning liên hoàn, thực tế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Lato" panose="020F0502020204030203" pitchFamily="34" charset="0"/>
                <a:ea typeface="Lato" panose="020F0502020204030203" pitchFamily="34" charset="-122"/>
                <a:cs typeface="Lato" panose="020F0502020204030203" pitchFamily="34" charset="-120"/>
              </a:rPr>
              <a:t>Bảo mật JWT, bcrypt, phân quyền RBAC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Lato" panose="020F0502020204030203" pitchFamily="34" charset="0"/>
                <a:ea typeface="Lato" panose="020F0502020204030203" pitchFamily="34" charset="-122"/>
                <a:cs typeface="Lato" panose="020F0502020204030203" pitchFamily="34" charset="-120"/>
              </a:rPr>
              <a:t>Triển khai Cloud thành công với URL vận hành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6464201" y="1558305"/>
            <a:ext cx="2188443" cy="442913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Hạn chế &amp; Hướng phát triển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6464201" y="2142976"/>
            <a:ext cx="2188443" cy="219000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Lato" panose="020F0502020204030203" pitchFamily="34" charset="0"/>
                <a:ea typeface="Lato" panose="020F0502020204030203" pitchFamily="34" charset="-122"/>
                <a:cs typeface="Lato" panose="020F0502020204030203" pitchFamily="34" charset="-120"/>
              </a:rPr>
              <a:t>Chưa tích hợp cổng thanh toán thực (VNPay/Momo)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Lato" panose="020F0502020204030203" pitchFamily="34" charset="0"/>
                <a:ea typeface="Lato" panose="020F0502020204030203" pitchFamily="34" charset="-122"/>
                <a:cs typeface="Lato" panose="020F0502020204030203" pitchFamily="34" charset="-120"/>
              </a:rPr>
              <a:t>Video Player cơ bản, chưa có DRM/HLS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Lato" panose="020F0502020204030203" pitchFamily="34" charset="0"/>
                <a:ea typeface="Lato" panose="020F0502020204030203" pitchFamily="34" charset="-122"/>
                <a:cs typeface="Lato" panose="020F0502020204030203" pitchFamily="34" charset="-120"/>
              </a:rPr>
              <a:t>Render Free Tier có Cold start 30-50 giây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Lato" panose="020F0502020204030203" pitchFamily="34" charset="0"/>
                <a:ea typeface="Lato" panose="020F0502020204030203" pitchFamily="34" charset="-122"/>
                <a:cs typeface="Lato" panose="020F0502020204030203" pitchFamily="34" charset="-120"/>
              </a:rPr>
              <a:t>Hướng: Quiz tự chấm điểm, cấp chứng chỉ PDF, Chat/Q&amp;A, Mobile App</a:t>
            </a:r>
            <a:endParaRPr lang="en-US" sz="1100" dirty="0"/>
          </a:p>
        </p:txBody>
      </p:sp>
      <p:pic>
        <p:nvPicPr>
          <p:cNvPr id="18" name="Picture 1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96100" y="4730115"/>
            <a:ext cx="2247900" cy="41338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4249</Words>
  <Application>WPS Presentation</Application>
  <PresentationFormat>On-screen Show (16:9)</PresentationFormat>
  <Paragraphs>199</Paragraphs>
  <Slides>10</Slides>
  <Notes>10</Notes>
  <HiddenSlides>0</HiddenSlides>
  <MMClips>0</MMClips>
  <ScaleCrop>false</ScaleCrop>
  <HeadingPairs>
    <vt:vector size="6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7" baseType="lpstr">
      <vt:lpstr>Arial</vt:lpstr>
      <vt:lpstr>SimSun</vt:lpstr>
      <vt:lpstr>Wingdings</vt:lpstr>
      <vt:lpstr>Lato</vt:lpstr>
      <vt:lpstr>Lato</vt:lpstr>
      <vt:lpstr>Lato</vt:lpstr>
      <vt:lpstr>Gelasio</vt:lpstr>
      <vt:lpstr>Gelasio</vt:lpstr>
      <vt:lpstr>Gelasio</vt:lpstr>
      <vt:lpstr>Lato Bold</vt:lpstr>
      <vt:lpstr>Lato Bold</vt:lpstr>
      <vt:lpstr>Lato Bold</vt:lpstr>
      <vt:lpstr>Calibri</vt:lpstr>
      <vt:lpstr>Microsoft YaHei</vt:lpstr>
      <vt:lpstr>Arial Unicode MS</vt:lpstr>
      <vt:lpstr>Times New Roman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CHIẾN HUỲNH MINH</cp:lastModifiedBy>
  <cp:revision>3</cp:revision>
  <dcterms:created xsi:type="dcterms:W3CDTF">2026-07-07T02:00:00Z</dcterms:created>
  <dcterms:modified xsi:type="dcterms:W3CDTF">2026-07-07T02:12:04Z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1033-12.1.0.26880</vt:lpwstr>
  </property>
  <property fmtid="{D5CDD505-2E9C-101B-9397-08002B2CF9AE}" pid="3" name="ICV">
    <vt:lpwstr>CE993ADF4BF24E8FB1FF78B638A22456_13</vt:lpwstr>
  </property>
</Properties>
</file>